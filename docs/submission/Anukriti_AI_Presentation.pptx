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dddf129-db35-835c-09fb-42e858b46c9a}">
          <p14:sldIdLst>
            <p14:sldId id="256"/>
            <p14:sldId id="257"/>
          </p14:sldIdLst>
        </p14:section>
        <p14:section name="Problem" id="{a1a468f3-3d13-667e-fc6c-fb3b70acc757}">
          <p14:sldIdLst>
            <p14:sldId id="258"/>
          </p14:sldIdLst>
        </p14:section>
        <p14:section name="Solution" id="{40f1bd76-a7c2-9a35-507c-5c6ef28db862}">
          <p14:sldIdLst>
            <p14:sldId id="259"/>
          </p14:sldIdLst>
        </p14:section>
        <p14:section name="Walkthrough" id="{84e8094d-c47c-3806-eaff-10692a89a9c3}">
          <p14:sldIdLst>
            <p14:sldId id="260"/>
            <p14:sldId id="261"/>
            <p14:sldId id="262"/>
            <p14:sldId id="263"/>
            <p14:sldId id="264"/>
          </p14:sldIdLst>
        </p14:section>
        <p14:section name="Healthcare" id="{ed0f0f21-5c4f-3024-10f0-e312eee12977}">
          <p14:sldIdLst>
            <p14:sldId id="265"/>
          </p14:sldIdLst>
        </p14:section>
        <p14:section name="Technology" id="{0bcafb80-4fcb-68b6-1651-001c4dd7c25c}">
          <p14:sldIdLst>
            <p14:sldId id="266"/>
            <p14:sldId id="267"/>
            <p14:sldId id="268"/>
          </p14:sldIdLst>
        </p14:section>
        <p14:section name="Outcomes" id="{411fd537-6b65-46d5-f5e3-9172160eb80e}">
          <p14:sldIdLst>
            <p14:sldId id="269"/>
            <p14:sldId id="270"/>
          </p14:sldIdLst>
        </p14:section>
        <p14:section name="Outlook" id="{77f9b8f9-58fd-0ba4-abf1-4e780927683e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from project PROJ-5D5FB8 (Smart Insulin Pump). Accuracy is mean per-channel 1 - normalised error, not R-squared.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66928" y="64556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88A"/>
                </a:solidFill>
              </a:rPr>
              <a:t>Anukriti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66928" y="64556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</a:rPr>
              <a:t>Anukriti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1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glow2"/>
          <p:cNvSpPr/>
          <p:nvPr/>
        </p:nvSpPr>
        <p:spPr>
          <a:xfrm>
            <a:off x="9692640" y="3291840"/>
            <a:ext cx="4023360" cy="4023360"/>
          </a:xfrm>
          <a:prstGeom prst="ellipse">
            <a:avLst/>
          </a:prstGeom>
          <a:solidFill>
            <a:srgbClr val="1C1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901952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ANUKRITI AI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98064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1DAFB"/>
                </a:solidFill>
              </a:rPr>
              <a:t>Generative System Engineering &amp; Digital Twin Platform for Medical Devices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5844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Turning one sentence of plain English into a physics-simulated, deployable digital twin — small enough to run on a single-board computer.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956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Anukriti Ai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66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3B5"/>
                </a:solidFill>
              </a:rPr>
              <a:t>Vellore Institute of Technology, Chennai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What the platform does, and what we measured</a:t>
            </a:r>
            <a:endParaRPr lang="en-US" sz="1300" dirty="0"/>
          </a:p>
        </p:txBody>
      </p:sp>
      <p:sp>
        <p:nvSpPr>
          <p:cNvPr id="4" name="sum-0"/>
          <p:cNvSpPr/>
          <p:nvPr/>
        </p:nvSpPr>
        <p:spPr>
          <a:xfrm>
            <a:off x="566928" y="1591056"/>
            <a:ext cx="2633472" cy="1847088"/>
          </a:xfrm>
          <a:prstGeom prst="roundRect">
            <a:avLst>
              <a:gd name="adj" fmla="val 2970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um-dot-0"/>
          <p:cNvSpPr/>
          <p:nvPr/>
        </p:nvSpPr>
        <p:spPr>
          <a:xfrm>
            <a:off x="804672" y="1810512"/>
            <a:ext cx="402336" cy="402336"/>
          </a:xfrm>
          <a:prstGeom prst="ellipse">
            <a:avLst/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</a:rPr>
              <a:t>An engineer writes one sentence describing the device in plain English.</a:t>
            </a:r>
            <a:endParaRPr lang="en-US" sz="1050" dirty="0"/>
          </a:p>
        </p:txBody>
      </p:sp>
      <p:sp>
        <p:nvSpPr>
          <p:cNvPr id="9" name="sum-1"/>
          <p:cNvSpPr/>
          <p:nvPr/>
        </p:nvSpPr>
        <p:spPr>
          <a:xfrm>
            <a:off x="3419856" y="1591056"/>
            <a:ext cx="2633472" cy="1847088"/>
          </a:xfrm>
          <a:prstGeom prst="roundRect">
            <a:avLst>
              <a:gd name="adj" fmla="val 2970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um-dot-1"/>
          <p:cNvSpPr/>
          <p:nvPr/>
        </p:nvSpPr>
        <p:spPr>
          <a:xfrm>
            <a:off x="3657600" y="1810512"/>
            <a:ext cx="402336" cy="402336"/>
          </a:xfrm>
          <a:prstGeom prst="ellipse">
            <a:avLst/>
          </a:prstGeom>
          <a:solidFill>
            <a:srgbClr val="6B4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</a:rPr>
              <a:t>An LLM produces formal requirements, then synthesises the system architecture.</a:t>
            </a:r>
            <a:endParaRPr lang="en-US" sz="1050" dirty="0"/>
          </a:p>
        </p:txBody>
      </p:sp>
      <p:sp>
        <p:nvSpPr>
          <p:cNvPr id="14" name="sum-2"/>
          <p:cNvSpPr/>
          <p:nvPr/>
        </p:nvSpPr>
        <p:spPr>
          <a:xfrm>
            <a:off x="6272784" y="1591056"/>
            <a:ext cx="2633472" cy="1847088"/>
          </a:xfrm>
          <a:prstGeom prst="roundRect">
            <a:avLst>
              <a:gd name="adj" fmla="val 2970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um-dot-2"/>
          <p:cNvSpPr/>
          <p:nvPr/>
        </p:nvSpPr>
        <p:spPr>
          <a:xfrm>
            <a:off x="6510528" y="1810512"/>
            <a:ext cx="402336" cy="402336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</a:rPr>
              <a:t>Deterministic NumPy solvers model thermal, electrical, battery and fluid behaviour.</a:t>
            </a:r>
            <a:endParaRPr lang="en-US" sz="1050" dirty="0"/>
          </a:p>
        </p:txBody>
      </p:sp>
      <p:sp>
        <p:nvSpPr>
          <p:cNvPr id="19" name="sum-3"/>
          <p:cNvSpPr/>
          <p:nvPr/>
        </p:nvSpPr>
        <p:spPr>
          <a:xfrm>
            <a:off x="9125712" y="1591056"/>
            <a:ext cx="2633472" cy="1847088"/>
          </a:xfrm>
          <a:prstGeom prst="roundRect">
            <a:avLst>
              <a:gd name="adj" fmla="val 2970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um-dot-3"/>
          <p:cNvSpPr/>
          <p:nvPr/>
        </p:nvSpPr>
        <p:spPr>
          <a:xfrm>
            <a:off x="9363456" y="1810512"/>
            <a:ext cx="402336" cy="402336"/>
          </a:xfrm>
          <a:prstGeom prst="ellipse">
            <a:avLst/>
          </a:prstGeom>
          <a:solidFill>
            <a:srgbClr val="C276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63456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7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26517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</a:rPr>
              <a:t>A surrogate ML twin is trained on the simulation and serialised for inference.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749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788A"/>
                </a:solidFill>
              </a:rPr>
              <a:t>Reference run — Smart Insulin Pump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078224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731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requirements from one sentence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419856" y="4078224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3419856" y="47731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mean channel accuracy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72784" y="4078224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s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6272784" y="47731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simulation to trained twin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125712" y="4078224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KB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9125712" y="477316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deployable model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3035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3788A"/>
                </a:solidFill>
              </a:rPr>
              <a:t>Reference run: Smart Insulin Pump project on a laptop (WSL2 Ubuntu). Figures are measured, not projected.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Medical device development takes 6 to 18 months — and the bottleneck is not manufacturing</a:t>
            </a:r>
            <a:endParaRPr lang="en-US" sz="1300" dirty="0"/>
          </a:p>
        </p:txBody>
      </p:sp>
      <p:sp>
        <p:nvSpPr>
          <p:cNvPr id="4" name="gap-0"/>
          <p:cNvSpPr/>
          <p:nvPr/>
        </p:nvSpPr>
        <p:spPr>
          <a:xfrm>
            <a:off x="566928" y="1627632"/>
            <a:ext cx="5541264" cy="1536192"/>
          </a:xfrm>
          <a:prstGeom prst="roundRect">
            <a:avLst>
              <a:gd name="adj" fmla="val 29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gap-dot-0"/>
          <p:cNvSpPr/>
          <p:nvPr/>
        </p:nvSpPr>
        <p:spPr>
          <a:xfrm>
            <a:off x="841248" y="1920240"/>
            <a:ext cx="420624" cy="420624"/>
          </a:xfrm>
          <a:prstGeom prst="ellipse">
            <a:avLst/>
          </a:prstGeom>
          <a:solidFill>
            <a:srgbClr val="B23A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901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requirement engineering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24942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Specifications are translated into formal requirements by hand — slow, inconsistent and error-prone.</a:t>
            </a:r>
            <a:endParaRPr lang="en-US" sz="1100" dirty="0"/>
          </a:p>
        </p:txBody>
      </p:sp>
      <p:sp>
        <p:nvSpPr>
          <p:cNvPr id="9" name="gap-1"/>
          <p:cNvSpPr/>
          <p:nvPr/>
        </p:nvSpPr>
        <p:spPr>
          <a:xfrm>
            <a:off x="6345936" y="1627632"/>
            <a:ext cx="5541264" cy="1536192"/>
          </a:xfrm>
          <a:prstGeom prst="roundRect">
            <a:avLst>
              <a:gd name="adj" fmla="val 29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gap-dot-1"/>
          <p:cNvSpPr/>
          <p:nvPr/>
        </p:nvSpPr>
        <p:spPr>
          <a:xfrm>
            <a:off x="6620256" y="1920240"/>
            <a:ext cx="420624" cy="420624"/>
          </a:xfrm>
          <a:prstGeom prst="ellipse">
            <a:avLst/>
          </a:prstGeom>
          <a:solidFill>
            <a:srgbClr val="C276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0256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9019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architecture modelling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24942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Topology is drawn in separate tools, with no traceable link back to the requirements that justify it.</a:t>
            </a:r>
            <a:endParaRPr lang="en-US" sz="1100" dirty="0"/>
          </a:p>
        </p:txBody>
      </p:sp>
      <p:sp>
        <p:nvSpPr>
          <p:cNvPr id="14" name="gap-2"/>
          <p:cNvSpPr/>
          <p:nvPr/>
        </p:nvSpPr>
        <p:spPr>
          <a:xfrm>
            <a:off x="566928" y="3383280"/>
            <a:ext cx="5541264" cy="1536192"/>
          </a:xfrm>
          <a:prstGeom prst="roundRect">
            <a:avLst>
              <a:gd name="adj" fmla="val 29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gap-dot-2"/>
          <p:cNvSpPr/>
          <p:nvPr/>
        </p:nvSpPr>
        <p:spPr>
          <a:xfrm>
            <a:off x="841248" y="3675888"/>
            <a:ext cx="420624" cy="420624"/>
          </a:xfrm>
          <a:prstGeom prst="ellipse">
            <a:avLst/>
          </a:prstGeom>
          <a:solidFill>
            <a:srgbClr val="6B4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6576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physics validation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400507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Thermal and electrical behaviour is checked during physical prototyping — when correction is most expensive.</a:t>
            </a:r>
            <a:endParaRPr lang="en-US" sz="1100" dirty="0"/>
          </a:p>
        </p:txBody>
      </p:sp>
      <p:sp>
        <p:nvSpPr>
          <p:cNvPr id="19" name="gap-3"/>
          <p:cNvSpPr/>
          <p:nvPr/>
        </p:nvSpPr>
        <p:spPr>
          <a:xfrm>
            <a:off x="6345936" y="3383280"/>
            <a:ext cx="5541264" cy="1536192"/>
          </a:xfrm>
          <a:prstGeom prst="roundRect">
            <a:avLst>
              <a:gd name="adj" fmla="val 29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gap-dot-3"/>
          <p:cNvSpPr/>
          <p:nvPr/>
        </p:nvSpPr>
        <p:spPr>
          <a:xfrm>
            <a:off x="6620256" y="3675888"/>
            <a:ext cx="420624" cy="420624"/>
          </a:xfrm>
          <a:prstGeom prst="ellipse">
            <a:avLst/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0256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6576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regulatory mapping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00507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IEC 60601-1 and ISO 13485 compliance is a separate documentation exercise, duplicating engineering effort.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2852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96"/>
                </a:solidFill>
              </a:rPr>
              <a:t>The result: long cycles, expensive late-stage redesign, and a high barrier to entry for small MedTech teams.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Automated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Each stage feeds the next — no manual handoff between tools</a:t>
            </a:r>
            <a:endParaRPr lang="en-US" sz="1300" dirty="0"/>
          </a:p>
        </p:txBody>
      </p:sp>
      <p:sp>
        <p:nvSpPr>
          <p:cNvPr id="4" name="flow-0"/>
          <p:cNvSpPr/>
          <p:nvPr/>
        </p:nvSpPr>
        <p:spPr>
          <a:xfrm>
            <a:off x="566928" y="1700784"/>
            <a:ext cx="1956816" cy="1408176"/>
          </a:xfrm>
          <a:prstGeom prst="roundRect">
            <a:avLst>
              <a:gd name="adj" fmla="val 3896"/>
            </a:avLst>
          </a:prstGeom>
          <a:solidFill>
            <a:srgbClr val="5B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48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140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8"/>
                </a:solidFill>
              </a:rPr>
              <a:t>Plain English</a:t>
            </a:r>
            <a:endParaRPr lang="en-US" sz="1050" dirty="0"/>
          </a:p>
        </p:txBody>
      </p:sp>
      <p:sp>
        <p:nvSpPr>
          <p:cNvPr id="7" name="flow-a-0"/>
          <p:cNvSpPr/>
          <p:nvPr/>
        </p:nvSpPr>
        <p:spPr>
          <a:xfrm>
            <a:off x="2560320" y="2304288"/>
            <a:ext cx="219456" cy="201168"/>
          </a:xfrm>
          <a:prstGeom prst="rightArrow">
            <a:avLst/>
          </a:prstGeom>
          <a:solidFill>
            <a:srgbClr val="D4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flow-1"/>
          <p:cNvSpPr/>
          <p:nvPr/>
        </p:nvSpPr>
        <p:spPr>
          <a:xfrm>
            <a:off x="2834640" y="1700784"/>
            <a:ext cx="1956816" cy="1408176"/>
          </a:xfrm>
          <a:prstGeom prst="roundRect">
            <a:avLst>
              <a:gd name="adj" fmla="val 3896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048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24140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8"/>
                </a:solidFill>
              </a:rPr>
              <a:t>LLM extraction</a:t>
            </a:r>
            <a:endParaRPr lang="en-US" sz="1050" dirty="0"/>
          </a:p>
        </p:txBody>
      </p:sp>
      <p:sp>
        <p:nvSpPr>
          <p:cNvPr id="11" name="flow-a-1"/>
          <p:cNvSpPr/>
          <p:nvPr/>
        </p:nvSpPr>
        <p:spPr>
          <a:xfrm>
            <a:off x="4828032" y="2304288"/>
            <a:ext cx="219456" cy="201168"/>
          </a:xfrm>
          <a:prstGeom prst="rightArrow">
            <a:avLst/>
          </a:prstGeom>
          <a:solidFill>
            <a:srgbClr val="D4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flow-2"/>
          <p:cNvSpPr/>
          <p:nvPr/>
        </p:nvSpPr>
        <p:spPr>
          <a:xfrm>
            <a:off x="5102352" y="1700784"/>
            <a:ext cx="1956816" cy="1408176"/>
          </a:xfrm>
          <a:prstGeom prst="roundRect">
            <a:avLst>
              <a:gd name="adj" fmla="val 3896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8656" y="2048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4140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8"/>
                </a:solidFill>
              </a:rPr>
              <a:t>DAG synthesis</a:t>
            </a:r>
            <a:endParaRPr lang="en-US" sz="1050" dirty="0"/>
          </a:p>
        </p:txBody>
      </p:sp>
      <p:sp>
        <p:nvSpPr>
          <p:cNvPr id="15" name="flow-a-2"/>
          <p:cNvSpPr/>
          <p:nvPr/>
        </p:nvSpPr>
        <p:spPr>
          <a:xfrm>
            <a:off x="7095744" y="2304288"/>
            <a:ext cx="219456" cy="201168"/>
          </a:xfrm>
          <a:prstGeom prst="rightArrow">
            <a:avLst/>
          </a:prstGeom>
          <a:solidFill>
            <a:srgbClr val="D4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flow-3"/>
          <p:cNvSpPr/>
          <p:nvPr/>
        </p:nvSpPr>
        <p:spPr>
          <a:xfrm>
            <a:off x="7370064" y="1700784"/>
            <a:ext cx="1956816" cy="1408176"/>
          </a:xfrm>
          <a:prstGeom prst="roundRect">
            <a:avLst>
              <a:gd name="adj" fmla="val 3896"/>
            </a:avLst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6368" y="2048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516368" y="24140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8"/>
                </a:solidFill>
              </a:rPr>
              <a:t>NumPy solvers</a:t>
            </a:r>
            <a:endParaRPr lang="en-US" sz="1050" dirty="0"/>
          </a:p>
        </p:txBody>
      </p:sp>
      <p:sp>
        <p:nvSpPr>
          <p:cNvPr id="19" name="flow-a-3"/>
          <p:cNvSpPr/>
          <p:nvPr/>
        </p:nvSpPr>
        <p:spPr>
          <a:xfrm>
            <a:off x="9363456" y="2304288"/>
            <a:ext cx="219456" cy="201168"/>
          </a:xfrm>
          <a:prstGeom prst="rightArrow">
            <a:avLst/>
          </a:prstGeom>
          <a:solidFill>
            <a:srgbClr val="D4DE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flow-4"/>
          <p:cNvSpPr/>
          <p:nvPr/>
        </p:nvSpPr>
        <p:spPr>
          <a:xfrm>
            <a:off x="9637776" y="1700784"/>
            <a:ext cx="1956816" cy="1408176"/>
          </a:xfrm>
          <a:prstGeom prst="roundRect">
            <a:avLst>
              <a:gd name="adj" fmla="val 3896"/>
            </a:avLst>
          </a:prstGeom>
          <a:solidFill>
            <a:srgbClr val="6B4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0" y="204825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Twin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24140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2F8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23" name="diff-0"/>
          <p:cNvSpPr/>
          <p:nvPr/>
        </p:nvSpPr>
        <p:spPr>
          <a:xfrm>
            <a:off x="585216" y="3584448"/>
            <a:ext cx="310896" cy="310896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3547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by construction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498848" y="35478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Every component records the requirement IDs it satisfies, so the audit trail is a by-product of the design, not a separate document.</a:t>
            </a:r>
            <a:endParaRPr lang="en-US" sz="1100" dirty="0"/>
          </a:p>
        </p:txBody>
      </p:sp>
      <p:sp>
        <p:nvSpPr>
          <p:cNvPr id="27" name="diff-1"/>
          <p:cNvSpPr/>
          <p:nvPr/>
        </p:nvSpPr>
        <p:spPr>
          <a:xfrm>
            <a:off x="585216" y="4443984"/>
            <a:ext cx="310896" cy="310896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" y="44074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physics is computed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440740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Thermal, battery and leakage behaviour comes from numerical solvers — the LLM only chooses which models to run and with what parameters.</a:t>
            </a:r>
            <a:endParaRPr lang="en-US" sz="1100" dirty="0"/>
          </a:p>
        </p:txBody>
      </p:sp>
      <p:sp>
        <p:nvSpPr>
          <p:cNvPr id="31" name="diff-2"/>
          <p:cNvSpPr/>
          <p:nvPr/>
        </p:nvSpPr>
        <p:spPr>
          <a:xfrm>
            <a:off x="585216" y="5303520"/>
            <a:ext cx="310896" cy="310896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5216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78992" y="5266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for the edge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498848" y="526694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788A"/>
                </a:solidFill>
              </a:rPr>
              <a:t>The full stack installs and serves from a Raspberry Pi 5. No cloud GPU or workstation is 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in Use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Command centre — every device tracked through the pipeline</a:t>
            </a:r>
            <a:endParaRPr lang="en-US" sz="1300" dirty="0"/>
          </a:p>
        </p:txBody>
      </p:sp>
      <p:pic>
        <p:nvPicPr>
          <p:cNvPr id="4" name="screenshot" descr="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49808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94192" y="157276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Registry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394192" y="1865376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Each device moves through four stages: initialisation, requirements, topology and surrogate twin.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394192" y="2615184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Stage Status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907792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Stage badges update as each workflow step completes.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365760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Workflow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395020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A step rail walks the engineer from requirements to twin in order.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70001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Statistics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94192" y="4992624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Projects, extracted constraints, simulations and trained twins at a glance.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from One Sentence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Input: “A portable insulin pump with 3-day battery life, occlusion detection, and patient-contact electrical safety.”</a:t>
            </a:r>
            <a:endParaRPr lang="en-US" sz="1300" dirty="0"/>
          </a:p>
        </p:txBody>
      </p:sp>
      <p:pic>
        <p:nvPicPr>
          <p:cNvPr id="4" name="screenshot" descr="shot_requir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49808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94192" y="157276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394192" y="2157984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formal requirements extracted from that single sentence.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394192" y="2706624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Safety-classed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999232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2 Class C and 5 Class B, aligned to IEC 62304 software safety classification.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374904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constraints with units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404164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72 h battery life, 0.5 mA leakage, 5 s occlusion detection, 85 dB alarm.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79145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a source standard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94192" y="5084064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IEC 60601-1, ISO 13485, IEC 62304 or the user's own intent.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Synthesis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7 subsystems, 5 interfaces and 46 traceability edges — derived from the requirements</a:t>
            </a:r>
            <a:endParaRPr lang="en-US" sz="1300" dirty="0"/>
          </a:p>
        </p:txBody>
      </p:sp>
      <p:pic>
        <p:nvPicPr>
          <p:cNvPr id="4" name="arch-2d" descr="sho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5428336" cy="3392710"/>
          </a:xfrm>
          <a:prstGeom prst="rect">
            <a:avLst/>
          </a:prstGeom>
        </p:spPr>
      </p:pic>
      <p:pic>
        <p:nvPicPr>
          <p:cNvPr id="5" name="arch-3d" descr="shot_architecture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432" y="1536192"/>
            <a:ext cx="5428336" cy="339271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" y="513007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matrix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5422678"/>
            <a:ext cx="542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Selecting a subsystem opens its connections and the requirement IDs it satisfies — here, the Battery Subsystem traces to SYS-1A2B.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196432" y="5130070"/>
            <a:ext cx="54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topology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196432" y="5422678"/>
            <a:ext cx="542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The full graph of components, interfaces and constraints, rendered with Three.js and explorable in three dimensions.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Six numerical models selected for this device, solved over 7,200 time steps</a:t>
            </a:r>
            <a:endParaRPr lang="en-US" sz="1300" dirty="0"/>
          </a:p>
        </p:txBody>
      </p:sp>
      <p:pic>
        <p:nvPicPr>
          <p:cNvPr id="4" name="screenshot" descr="shot_sim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49808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94192" y="157276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selects, NumPy solves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394192" y="1865376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The model picks which solvers to run and their parameters; every value on screen comes from the solvers.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394192" y="2615184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907792"/>
            <a:ext cx="32305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Shepherd discharge model — voltage, state of charge and power.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349300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Infusion flow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3785616"/>
            <a:ext cx="32305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Peristaltic pulsation, delivered volume and noisy line pressure.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370832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checking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394192" y="4663440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Modelled values are compared against requirement limits and breaches are flagged for review.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Surrogate Digital Twin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GradientBoosting + MLP ensemble, trained on the simulation output</a:t>
            </a:r>
            <a:endParaRPr lang="en-US" sz="1300" dirty="0"/>
          </a:p>
        </p:txBody>
      </p:sp>
      <p:pic>
        <p:nvPicPr>
          <p:cNvPr id="4" name="screenshot" descr="shot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49808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94192" y="157276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A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394192" y="2157984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mean per-channel accuracy (1 − normalised error) across 15 output channels.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394192" y="2907792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A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KB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349300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serialised model — compact enough for edge inference.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4041648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394192" y="4626864"/>
            <a:ext cx="3230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8E4"/>
                </a:solidFill>
              </a:rPr>
              <a:t>training time: 5,760 training and 1,440 validation samples, 16 features.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Use Case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Design and verification of regulated, patient-contact medical devices</a:t>
            </a:r>
            <a:endParaRPr lang="en-US" sz="1300" dirty="0"/>
          </a:p>
        </p:txBody>
      </p:sp>
      <p:sp>
        <p:nvSpPr>
          <p:cNvPr id="4" name="dev-0"/>
          <p:cNvSpPr/>
          <p:nvPr/>
        </p:nvSpPr>
        <p:spPr>
          <a:xfrm>
            <a:off x="566928" y="1609344"/>
            <a:ext cx="2633472" cy="658368"/>
          </a:xfrm>
          <a:prstGeom prst="roundRect">
            <a:avLst>
              <a:gd name="adj" fmla="val 13889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09344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Infusion &amp; insulin pumps</a:t>
            </a:r>
            <a:endParaRPr lang="en-US" sz="1200" dirty="0"/>
          </a:p>
        </p:txBody>
      </p:sp>
      <p:sp>
        <p:nvSpPr>
          <p:cNvPr id="6" name="dev-1"/>
          <p:cNvSpPr/>
          <p:nvPr/>
        </p:nvSpPr>
        <p:spPr>
          <a:xfrm>
            <a:off x="3419856" y="1609344"/>
            <a:ext cx="2633472" cy="658368"/>
          </a:xfrm>
          <a:prstGeom prst="roundRect">
            <a:avLst>
              <a:gd name="adj" fmla="val 13889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9584" y="1609344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monitors</a:t>
            </a:r>
            <a:endParaRPr lang="en-US" sz="1200" dirty="0"/>
          </a:p>
        </p:txBody>
      </p:sp>
      <p:sp>
        <p:nvSpPr>
          <p:cNvPr id="8" name="dev-2"/>
          <p:cNvSpPr/>
          <p:nvPr/>
        </p:nvSpPr>
        <p:spPr>
          <a:xfrm>
            <a:off x="6272784" y="1609344"/>
            <a:ext cx="2633472" cy="658368"/>
          </a:xfrm>
          <a:prstGeom prst="roundRect">
            <a:avLst>
              <a:gd name="adj" fmla="val 13889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609344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Ventilators</a:t>
            </a:r>
            <a:endParaRPr lang="en-US" sz="1200" dirty="0"/>
          </a:p>
        </p:txBody>
      </p:sp>
      <p:sp>
        <p:nvSpPr>
          <p:cNvPr id="10" name="dev-3"/>
          <p:cNvSpPr/>
          <p:nvPr/>
        </p:nvSpPr>
        <p:spPr>
          <a:xfrm>
            <a:off x="9125712" y="1609344"/>
            <a:ext cx="2633472" cy="658368"/>
          </a:xfrm>
          <a:prstGeom prst="roundRect">
            <a:avLst>
              <a:gd name="adj" fmla="val 13889"/>
            </a:avLst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0" y="1609344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Portable diagnostics</a:t>
            </a:r>
            <a:endParaRPr lang="en-US" sz="1200" dirty="0"/>
          </a:p>
        </p:txBody>
      </p:sp>
      <p:sp>
        <p:nvSpPr>
          <p:cNvPr id="12" name="hc-0"/>
          <p:cNvSpPr/>
          <p:nvPr/>
        </p:nvSpPr>
        <p:spPr>
          <a:xfrm>
            <a:off x="603504" y="2633472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safety screening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56032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8A"/>
                </a:solidFill>
              </a:rPr>
              <a:t>Leakage current and thermal rise are modelled against requirement limits before any hardware exists.</a:t>
            </a:r>
            <a:endParaRPr lang="en-US" sz="1050" dirty="0"/>
          </a:p>
        </p:txBody>
      </p:sp>
      <p:sp>
        <p:nvSpPr>
          <p:cNvPr id="15" name="hc-1"/>
          <p:cNvSpPr/>
          <p:nvPr/>
        </p:nvSpPr>
        <p:spPr>
          <a:xfrm>
            <a:off x="603504" y="3255264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2416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traceability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18211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8A"/>
                </a:solidFill>
              </a:rPr>
              <a:t>Each component carries the requirement IDs it satisfies, producing the audit trail regulators expect.</a:t>
            </a:r>
            <a:endParaRPr lang="en-US" sz="1050" dirty="0"/>
          </a:p>
        </p:txBody>
      </p:sp>
      <p:sp>
        <p:nvSpPr>
          <p:cNvPr id="18" name="hc-2"/>
          <p:cNvSpPr/>
          <p:nvPr/>
        </p:nvSpPr>
        <p:spPr>
          <a:xfrm>
            <a:off x="603504" y="3877056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3822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classification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8039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8A"/>
                </a:solidFill>
              </a:rPr>
              <a:t>Requirements are assigned safety class A, B or C, aligned to IEC 62304.</a:t>
            </a:r>
            <a:endParaRPr lang="en-US" sz="1050" dirty="0"/>
          </a:p>
        </p:txBody>
      </p:sp>
      <p:sp>
        <p:nvSpPr>
          <p:cNvPr id="21" name="hc-3"/>
          <p:cNvSpPr/>
          <p:nvPr/>
        </p:nvSpPr>
        <p:spPr>
          <a:xfrm>
            <a:off x="603504" y="4498848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2416" y="4443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time-to-patient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42569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8A"/>
                </a:solidFill>
              </a:rPr>
              <a:t>Shorter design cycles mean validated, life-critical devices reach patients sooner.</a:t>
            </a:r>
            <a:endParaRPr lang="en-US" sz="1050" dirty="0"/>
          </a:p>
        </p:txBody>
      </p:sp>
      <p:sp>
        <p:nvSpPr>
          <p:cNvPr id="24" name="hc-4"/>
          <p:cNvSpPr/>
          <p:nvPr/>
        </p:nvSpPr>
        <p:spPr>
          <a:xfrm>
            <a:off x="603504" y="5120640"/>
            <a:ext cx="274320" cy="27432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2416" y="5065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barrier to entry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504748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8A"/>
                </a:solidFill>
              </a:rPr>
              <a:t>Runs on a single-board computer, opening device R&amp;D to resource-constrained teams.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760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23A32"/>
                </a:solidFill>
              </a:rPr>
              <a:t>Scope: a design-stage engineering aid. It does not diagnose or treat, and is not itself a regulated device.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Computational Layers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Only the first is generative — the rest is deterministic mathematics</a:t>
            </a:r>
            <a:endParaRPr lang="en-US" sz="1300" dirty="0"/>
          </a:p>
        </p:txBody>
      </p:sp>
      <p:sp>
        <p:nvSpPr>
          <p:cNvPr id="4" name="layer-0"/>
          <p:cNvSpPr/>
          <p:nvPr/>
        </p:nvSpPr>
        <p:spPr>
          <a:xfrm>
            <a:off x="566928" y="1609344"/>
            <a:ext cx="3584448" cy="4114800"/>
          </a:xfrm>
          <a:prstGeom prst="roundRect">
            <a:avLst>
              <a:gd name="adj" fmla="val 12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layer-n-0"/>
          <p:cNvSpPr/>
          <p:nvPr/>
        </p:nvSpPr>
        <p:spPr>
          <a:xfrm>
            <a:off x="841248" y="1865376"/>
            <a:ext cx="457200" cy="457200"/>
          </a:xfrm>
          <a:prstGeom prst="ellipse">
            <a:avLst/>
          </a:prstGeom>
          <a:solidFill>
            <a:srgbClr val="0E7C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96"/>
                </a:solidFill>
              </a:rPr>
              <a:t>Groq · openai/gpt-oss-20b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45536"/>
            <a:ext cx="3054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Requirement extraction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Architecture synthesis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Simulation planning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Compliance audit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Enforced JSON output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Deterministic fallbacks</a:t>
            </a:r>
            <a:endParaRPr lang="en-US" sz="1100" dirty="0"/>
          </a:p>
        </p:txBody>
      </p:sp>
      <p:sp>
        <p:nvSpPr>
          <p:cNvPr id="10" name="layer-1"/>
          <p:cNvSpPr/>
          <p:nvPr/>
        </p:nvSpPr>
        <p:spPr>
          <a:xfrm>
            <a:off x="4389120" y="1609344"/>
            <a:ext cx="3584448" cy="4114800"/>
          </a:xfrm>
          <a:prstGeom prst="roundRect">
            <a:avLst>
              <a:gd name="adj" fmla="val 12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layer-n-1"/>
          <p:cNvSpPr/>
          <p:nvPr/>
        </p:nvSpPr>
        <p:spPr>
          <a:xfrm>
            <a:off x="4663440" y="1865376"/>
            <a:ext cx="457200" cy="45720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Physics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8A4C"/>
                </a:solidFill>
              </a:rPr>
              <a:t>NumPy · 8 solver models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45536"/>
            <a:ext cx="3054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Shepherd battery model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Newton cooling (Euler)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RC step response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Peristaltic flow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DC motor back-EMF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Leakage vs limit</a:t>
            </a:r>
            <a:endParaRPr lang="en-US" sz="1100" dirty="0"/>
          </a:p>
        </p:txBody>
      </p:sp>
      <p:sp>
        <p:nvSpPr>
          <p:cNvPr id="16" name="layer-2"/>
          <p:cNvSpPr/>
          <p:nvPr/>
        </p:nvSpPr>
        <p:spPr>
          <a:xfrm>
            <a:off x="8211312" y="1609344"/>
            <a:ext cx="3584448" cy="4114800"/>
          </a:xfrm>
          <a:prstGeom prst="roundRect">
            <a:avLst>
              <a:gd name="adj" fmla="val 1276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layer-n-2"/>
          <p:cNvSpPr/>
          <p:nvPr/>
        </p:nvSpPr>
        <p:spPr>
          <a:xfrm>
            <a:off x="8485632" y="1865376"/>
            <a:ext cx="457200" cy="457200"/>
          </a:xfrm>
          <a:prstGeom prst="ellipse">
            <a:avLst/>
          </a:prstGeom>
          <a:solidFill>
            <a:srgbClr val="6B4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85632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3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ML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2779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4FD8"/>
                </a:solidFill>
              </a:rPr>
              <a:t>scikit-learn ensemble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485632" y="3145536"/>
            <a:ext cx="30540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GradientBoosting + MLP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16 engineered features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One model per channel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StandardScaler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80/20 validation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joblib .pkl artefact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Physics Engine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Eight numerical models — closed-form and numerically integrated, no machine learning</a:t>
            </a:r>
            <a:endParaRPr lang="en-US" sz="1300" dirty="0"/>
          </a:p>
        </p:txBody>
      </p:sp>
      <p:sp>
        <p:nvSpPr>
          <p:cNvPr id="4" name="phys-0"/>
          <p:cNvSpPr/>
          <p:nvPr/>
        </p:nvSpPr>
        <p:spPr>
          <a:xfrm>
            <a:off x="566928" y="1627632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discharge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Modified Shepherd model with polarisation and exponential zones; SoC tracking</a:t>
            </a:r>
            <a:endParaRPr lang="en-US" sz="1000" dirty="0"/>
          </a:p>
        </p:txBody>
      </p:sp>
      <p:sp>
        <p:nvSpPr>
          <p:cNvPr id="7" name="phys-1"/>
          <p:cNvSpPr/>
          <p:nvPr/>
        </p:nvSpPr>
        <p:spPr>
          <a:xfrm>
            <a:off x="6345936" y="1627632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0116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Newton's law of cooling with power dissipation, forward Euler integration</a:t>
            </a:r>
            <a:endParaRPr lang="en-US" sz="1000" dirty="0"/>
          </a:p>
        </p:txBody>
      </p:sp>
      <p:sp>
        <p:nvSpPr>
          <p:cNvPr id="10" name="phys-2"/>
          <p:cNvSpPr/>
          <p:nvPr/>
        </p:nvSpPr>
        <p:spPr>
          <a:xfrm>
            <a:off x="566928" y="2670048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79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circuit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540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First-order step response, time constant and settling time</a:t>
            </a:r>
            <a:endParaRPr lang="en-US" sz="1000" dirty="0"/>
          </a:p>
        </p:txBody>
      </p:sp>
      <p:sp>
        <p:nvSpPr>
          <p:cNvPr id="13" name="phys-3"/>
          <p:cNvSpPr/>
          <p:nvPr/>
        </p:nvSpPr>
        <p:spPr>
          <a:xfrm>
            <a:off x="6345936" y="2670048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27797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flow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30540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Peristaltic pump with pulsation, cumulative volume and line pressure</a:t>
            </a:r>
            <a:endParaRPr lang="en-US" sz="1000" dirty="0"/>
          </a:p>
        </p:txBody>
      </p:sp>
      <p:sp>
        <p:nvSpPr>
          <p:cNvPr id="16" name="phys-4"/>
          <p:cNvSpPr/>
          <p:nvPr/>
        </p:nvSpPr>
        <p:spPr>
          <a:xfrm>
            <a:off x="566928" y="3712464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drive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96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DC motor with back-EMF, torque and inertia, integrated step-wise</a:t>
            </a:r>
            <a:endParaRPr lang="en-US" sz="1000" dirty="0"/>
          </a:p>
        </p:txBody>
      </p:sp>
      <p:sp>
        <p:nvSpPr>
          <p:cNvPr id="19" name="phys-5"/>
          <p:cNvSpPr/>
          <p:nvPr/>
        </p:nvSpPr>
        <p:spPr>
          <a:xfrm>
            <a:off x="6345936" y="3712464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response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4096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Drift, Gaussian noise, ADC quantisation and SNR</a:t>
            </a:r>
            <a:endParaRPr lang="en-US" sz="1000" dirty="0"/>
          </a:p>
        </p:txBody>
      </p:sp>
      <p:sp>
        <p:nvSpPr>
          <p:cNvPr id="22" name="phys-6"/>
          <p:cNvSpPr/>
          <p:nvPr/>
        </p:nvSpPr>
        <p:spPr>
          <a:xfrm>
            <a:off x="566928" y="4754880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current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13892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Insulation degradation with temperature coefficient, checked against a limit</a:t>
            </a:r>
            <a:endParaRPr lang="en-US" sz="1000" dirty="0"/>
          </a:p>
        </p:txBody>
      </p:sp>
      <p:sp>
        <p:nvSpPr>
          <p:cNvPr id="25" name="phys-7"/>
          <p:cNvSpPr/>
          <p:nvPr/>
        </p:nvSpPr>
        <p:spPr>
          <a:xfrm>
            <a:off x="6345936" y="4754880"/>
            <a:ext cx="5541264" cy="896112"/>
          </a:xfrm>
          <a:prstGeom prst="roundRect">
            <a:avLst>
              <a:gd name="adj" fmla="val 40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01968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response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01968" y="513892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3788A"/>
                </a:solidFill>
              </a:rPr>
              <a:t>First-order response with noise and saturation bounds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9070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3788A"/>
                </a:solidFill>
              </a:rPr>
              <a:t>Limits are checked automatically; a breach raises a warning in the telemetry view.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Open-source throughout, MIT licensed</a:t>
            </a:r>
            <a:endParaRPr lang="en-US" sz="1300" dirty="0"/>
          </a:p>
        </p:txBody>
      </p:sp>
      <p:sp>
        <p:nvSpPr>
          <p:cNvPr id="4" name="stack-0"/>
          <p:cNvSpPr/>
          <p:nvPr/>
        </p:nvSpPr>
        <p:spPr>
          <a:xfrm>
            <a:off x="566928" y="1627632"/>
            <a:ext cx="3584448" cy="3566160"/>
          </a:xfrm>
          <a:prstGeom prst="roundRect">
            <a:avLst>
              <a:gd name="adj" fmla="val 12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22576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Next.js 16.1.6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React 19.2.3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TypeScript 5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Tailwind CSS 4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Three.js 0.183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Framer Motion 12</a:t>
            </a:r>
            <a:endParaRPr lang="en-US" sz="1200" dirty="0"/>
          </a:p>
        </p:txBody>
      </p:sp>
      <p:sp>
        <p:nvSpPr>
          <p:cNvPr id="7" name="stack-1"/>
          <p:cNvSpPr/>
          <p:nvPr/>
        </p:nvSpPr>
        <p:spPr>
          <a:xfrm>
            <a:off x="4389120" y="1627632"/>
            <a:ext cx="3584448" cy="3566160"/>
          </a:xfrm>
          <a:prstGeom prst="roundRect">
            <a:avLst>
              <a:gd name="adj" fmla="val 12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865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22576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FastAPI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Uvicorn (ASGI)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Pydantic 2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NumPy 2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scikit-learn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NetworkX</a:t>
            </a:r>
            <a:endParaRPr lang="en-US" sz="1200" dirty="0"/>
          </a:p>
        </p:txBody>
      </p:sp>
      <p:sp>
        <p:nvSpPr>
          <p:cNvPr id="10" name="stack-2"/>
          <p:cNvSpPr/>
          <p:nvPr/>
        </p:nvSpPr>
        <p:spPr>
          <a:xfrm>
            <a:off x="8211312" y="1627632"/>
            <a:ext cx="3584448" cy="3566160"/>
          </a:xfrm>
          <a:prstGeom prst="roundRect">
            <a:avLst>
              <a:gd name="adj" fmla="val 1282"/>
            </a:avLst>
          </a:prstGeom>
          <a:solidFill>
            <a:srgbClr val="EEF3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1865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B4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Infrastructure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2322576"/>
            <a:ext cx="30540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Groq inference API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openai/gpt-oss-20b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joblib serialisation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Raspberry Pi OS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</a:rPr>
              <a:t>Render / AWS EB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4132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96"/>
                </a:solidFill>
              </a:rPr>
              <a:t>Repository: github.com/prayag-1771/Anukriti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</a:rPr>
              <a:t>One complete run — device description to trained, serialised twin</a:t>
            </a:r>
            <a:endParaRPr lang="en-US" sz="1300" dirty="0"/>
          </a:p>
        </p:txBody>
      </p:sp>
      <p:sp>
        <p:nvSpPr>
          <p:cNvPr id="4" name="big-0"/>
          <p:cNvSpPr/>
          <p:nvPr/>
        </p:nvSpPr>
        <p:spPr>
          <a:xfrm>
            <a:off x="566928" y="1609344"/>
            <a:ext cx="2633472" cy="1901952"/>
          </a:xfrm>
          <a:prstGeom prst="roundRect">
            <a:avLst>
              <a:gd name="adj" fmla="val 240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28800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A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5420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Mean channel accuracy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1635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1 − normalised error, 15 channels</a:t>
            </a:r>
            <a:endParaRPr lang="en-US" sz="1000" dirty="0"/>
          </a:p>
        </p:txBody>
      </p:sp>
      <p:sp>
        <p:nvSpPr>
          <p:cNvPr id="8" name="big-1"/>
          <p:cNvSpPr/>
          <p:nvPr/>
        </p:nvSpPr>
        <p:spPr>
          <a:xfrm>
            <a:off x="3419856" y="1609344"/>
            <a:ext cx="2633472" cy="1901952"/>
          </a:xfrm>
          <a:prstGeom prst="roundRect">
            <a:avLst>
              <a:gd name="adj" fmla="val 240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1828800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5420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Simulation to twin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81635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physics, training and serialisation</a:t>
            </a:r>
            <a:endParaRPr lang="en-US" sz="1000" dirty="0"/>
          </a:p>
        </p:txBody>
      </p:sp>
      <p:sp>
        <p:nvSpPr>
          <p:cNvPr id="12" name="big-2"/>
          <p:cNvSpPr/>
          <p:nvPr/>
        </p:nvSpPr>
        <p:spPr>
          <a:xfrm>
            <a:off x="6272784" y="1609344"/>
            <a:ext cx="2633472" cy="1901952"/>
          </a:xfrm>
          <a:prstGeom prst="roundRect">
            <a:avLst>
              <a:gd name="adj" fmla="val 240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1828800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A9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KB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420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 footprint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81635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compact enough for edge inference</a:t>
            </a:r>
            <a:endParaRPr lang="en-US" sz="1000" dirty="0"/>
          </a:p>
        </p:txBody>
      </p:sp>
      <p:sp>
        <p:nvSpPr>
          <p:cNvPr id="16" name="big-3"/>
          <p:cNvSpPr/>
          <p:nvPr/>
        </p:nvSpPr>
        <p:spPr>
          <a:xfrm>
            <a:off x="9125712" y="1609344"/>
            <a:ext cx="2633472" cy="1901952"/>
          </a:xfrm>
          <a:prstGeom prst="roundRect">
            <a:avLst>
              <a:gd name="adj" fmla="val 240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1828800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B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5420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Simulated samples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816352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5,760 training · 1,440 validation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38587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4"/>
                </a:solidFill>
              </a:rPr>
              <a:t>Requirements extracted from one sentence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3858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7  (2 Class C, 5 Class B)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428853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4"/>
                </a:solidFill>
              </a:rPr>
              <a:t>Architecture graph synthesised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42885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25 nodes, 46 edges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471830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4"/>
                </a:solidFill>
              </a:rPr>
              <a:t>Subsystems and interfaces identified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471830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7 subsystems, 5 interfaces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03504" y="514807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4"/>
                </a:solidFill>
              </a:rPr>
              <a:t>Physics models selected and solved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5148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6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" y="557784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4"/>
                </a:solidFill>
              </a:rPr>
              <a:t>Best single-channel fit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516368" y="5577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R² 0.9999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08990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6E80"/>
                </a:solidFill>
              </a:rPr>
              <a:t>Reference run: Smart Insulin Pump project on a laptop (WSL2 Ubuntu). Figures are measured, not projected.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at the Edge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Verified on device — the full stack installs and serves from one 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1645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Board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645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Raspberry Pi 5 Model B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21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Processor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4 x ARM Cortex-A76 (aarch64)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96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Memory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2596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8 GB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072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Operating system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Raspberry Pi OS 64-bit (Debian 13)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5478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Runtime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Python 3.13 · Node 20.19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Cooling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Official active cooler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" y="4498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Power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4498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USB-C, 5 V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974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8A"/>
                </a:solidFill>
              </a:rPr>
              <a:t>Thermals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4974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23F"/>
                </a:solidFill>
              </a:rPr>
              <a:t>49 °C with the platform running, no throttling</a:t>
            </a:r>
            <a:endParaRPr lang="en-US" sz="1150" dirty="0"/>
          </a:p>
        </p:txBody>
      </p:sp>
      <p:sp>
        <p:nvSpPr>
          <p:cNvPr id="20" name="why-edge"/>
          <p:cNvSpPr/>
          <p:nvPr/>
        </p:nvSpPr>
        <p:spPr>
          <a:xfrm>
            <a:off x="7589520" y="1645920"/>
            <a:ext cx="4023360" cy="3803904"/>
          </a:xfrm>
          <a:prstGeom prst="roundRect">
            <a:avLst>
              <a:gd name="adj" fmla="val 1202"/>
            </a:avLst>
          </a:prstGeom>
          <a:solidFill>
            <a:srgbClr val="0B0F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45552" y="1865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edge matters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45552" y="2267712"/>
            <a:ext cx="35295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C9D8E4"/>
                </a:solidFill>
              </a:rPr>
              <a:t>Device telemetry and trained models stay on the premises.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C9D8E4"/>
                </a:solidFill>
              </a:rPr>
              <a:t>Only prompts and structured JSON reach the cloud LLM.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C9D8E4"/>
                </a:solidFill>
              </a:rPr>
              <a:t>The cost of entry is a single-board computer, not a simulation licence.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C9D8E4"/>
                </a:solidFill>
              </a:rPr>
              <a:t>Deployable in labs and clinics with limited connectivity.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2062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4241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788A"/>
                </a:solidFill>
              </a:rPr>
              <a:t>What the reference run taught us, and where the platform goes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93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11680"/>
            <a:ext cx="54498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LLM-chosen simulation parameters need engineer review — in our run a 0.5 mA leakage limit was read as 0.5 µA.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Short simulated windows left 10 of 15 channels near-constant, where R² is not informative.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The surrogate learns one run's trajectory; it is not yet conditioned on operating parameters.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Solvers are simplified and need validation against certified FEM/CFD before regulatory use.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4323F"/>
                </a:solidFill>
              </a:rPr>
              <a:t>Project state is held in memory, and the compliance audit depends on an external LLM.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10528" y="1609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7" name="road-tag-0"/>
          <p:cNvSpPr/>
          <p:nvPr/>
        </p:nvSpPr>
        <p:spPr>
          <a:xfrm>
            <a:off x="6510528" y="2029968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202996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Near term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340864"/>
            <a:ext cx="5358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23F"/>
                </a:solidFill>
              </a:rPr>
              <a:t>Unit-checked parameter validation between requirements and simulation inputs.</a:t>
            </a:r>
            <a:endParaRPr lang="en-US" sz="1100" dirty="0"/>
          </a:p>
        </p:txBody>
      </p:sp>
      <p:sp>
        <p:nvSpPr>
          <p:cNvPr id="10" name="road-tag-1"/>
          <p:cNvSpPr/>
          <p:nvPr/>
        </p:nvSpPr>
        <p:spPr>
          <a:xfrm>
            <a:off x="6510528" y="2871216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2871216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Near term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3182112"/>
            <a:ext cx="5358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23F"/>
                </a:solidFill>
              </a:rPr>
              <a:t>Parameter-conditioned surrogates, so one twin covers a design space, not a single run.</a:t>
            </a:r>
            <a:endParaRPr lang="en-US" sz="1100" dirty="0"/>
          </a:p>
        </p:txBody>
      </p:sp>
      <p:sp>
        <p:nvSpPr>
          <p:cNvPr id="13" name="road-tag-2"/>
          <p:cNvSpPr/>
          <p:nvPr/>
        </p:nvSpPr>
        <p:spPr>
          <a:xfrm>
            <a:off x="6510528" y="3712464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371246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Mid term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023360"/>
            <a:ext cx="5358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23F"/>
                </a:solidFill>
              </a:rPr>
              <a:t>Persistent project storage and an exportable Requirements Traceability Matrix.</a:t>
            </a:r>
            <a:endParaRPr lang="en-US" sz="1100" dirty="0"/>
          </a:p>
        </p:txBody>
      </p:sp>
      <p:sp>
        <p:nvSpPr>
          <p:cNvPr id="16" name="road-tag-3"/>
          <p:cNvSpPr/>
          <p:nvPr/>
        </p:nvSpPr>
        <p:spPr>
          <a:xfrm>
            <a:off x="6510528" y="4553712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1F8A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0528" y="455371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Longer term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4864608"/>
            <a:ext cx="5358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23F"/>
                </a:solidFill>
              </a:rPr>
              <a:t>Validation against ANSYS or COMSOL on a reference device; on-device language models.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175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78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3"/>
          <p:cNvSpPr/>
          <p:nvPr/>
        </p:nvSpPr>
        <p:spPr>
          <a:xfrm>
            <a:off x="-2011680" y="3108960"/>
            <a:ext cx="5852160" cy="5852160"/>
          </a:xfrm>
          <a:prstGeom prst="ellipse">
            <a:avLst/>
          </a:prstGeom>
          <a:solidFill>
            <a:srgbClr val="11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371600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into minutes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4942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1DAFB"/>
                </a:solidFill>
              </a:rPr>
              <a:t>Plain English to requirements, to architecture, to simulated physics, to a deployable machine-learning twin.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015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Anukriti Ai</a:t>
            </a:r>
            <a:endParaRPr lang="en-US" sz="1700" dirty="0"/>
          </a:p>
        </p:txBody>
      </p:sp>
      <p:sp>
        <p:nvSpPr>
          <p:cNvPr id="6" name="team-0"/>
          <p:cNvSpPr/>
          <p:nvPr/>
        </p:nvSpPr>
        <p:spPr>
          <a:xfrm>
            <a:off x="566928" y="3895344"/>
            <a:ext cx="2633472" cy="786384"/>
          </a:xfrm>
          <a:prstGeom prst="roundRect">
            <a:avLst>
              <a:gd name="adj" fmla="val 581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4023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Harsh Yadav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42976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Team Leader</a:t>
            </a:r>
            <a:endParaRPr lang="en-US" sz="1000" dirty="0"/>
          </a:p>
        </p:txBody>
      </p:sp>
      <p:sp>
        <p:nvSpPr>
          <p:cNvPr id="9" name="team-1"/>
          <p:cNvSpPr/>
          <p:nvPr/>
        </p:nvSpPr>
        <p:spPr>
          <a:xfrm>
            <a:off x="3419856" y="3895344"/>
            <a:ext cx="2633472" cy="786384"/>
          </a:xfrm>
          <a:prstGeom prst="roundRect">
            <a:avLst>
              <a:gd name="adj" fmla="val 581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4023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Avishkar Jaiswal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42976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Team Member</a:t>
            </a:r>
            <a:endParaRPr lang="en-US" sz="1000" dirty="0"/>
          </a:p>
        </p:txBody>
      </p:sp>
      <p:sp>
        <p:nvSpPr>
          <p:cNvPr id="12" name="team-2"/>
          <p:cNvSpPr/>
          <p:nvPr/>
        </p:nvSpPr>
        <p:spPr>
          <a:xfrm>
            <a:off x="6272784" y="3895344"/>
            <a:ext cx="2633472" cy="786384"/>
          </a:xfrm>
          <a:prstGeom prst="roundRect">
            <a:avLst>
              <a:gd name="adj" fmla="val 581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4023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Amol Bhatia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42976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Team Member</a:t>
            </a:r>
            <a:endParaRPr lang="en-US" sz="1000" dirty="0"/>
          </a:p>
        </p:txBody>
      </p:sp>
      <p:sp>
        <p:nvSpPr>
          <p:cNvPr id="15" name="team-3"/>
          <p:cNvSpPr/>
          <p:nvPr/>
        </p:nvSpPr>
        <p:spPr>
          <a:xfrm>
            <a:off x="9125712" y="3895344"/>
            <a:ext cx="2633472" cy="786384"/>
          </a:xfrm>
          <a:prstGeom prst="roundRect">
            <a:avLst>
              <a:gd name="adj" fmla="val 5814"/>
            </a:avLst>
          </a:prstGeom>
          <a:solidFill>
            <a:srgbClr val="1620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4023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Prayag Sharma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429768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</a:rPr>
              <a:t>Team Member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974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</a:rPr>
              <a:t>Vellore Institute of Technology, Chennai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85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</a:rPr>
              <a:t>github.com/prayag-1771/Anukriti   ·   MIT Licence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ukriti AI">
  <a:themeElements>
    <a:clrScheme name="Anukriti AI">
      <a:dk1>
        <a:srgbClr val="0B0F14"/>
      </a:dk1>
      <a:lt1>
        <a:srgbClr val="FFFFFF"/>
      </a:lt1>
      <a:dk2>
        <a:srgbClr val="16202B"/>
      </a:dk2>
      <a:lt2>
        <a:srgbClr val="EEF3F8"/>
      </a:lt2>
      <a:accent1>
        <a:srgbClr val="0E7C96"/>
      </a:accent1>
      <a:accent2>
        <a:srgbClr val="6B4FD8"/>
      </a:accent2>
      <a:accent3>
        <a:srgbClr val="1F8A4C"/>
      </a:accent3>
      <a:accent4>
        <a:srgbClr val="C2761B"/>
      </a:accent4>
      <a:accent5>
        <a:srgbClr val="B23A32"/>
      </a:accent5>
      <a:accent6>
        <a:srgbClr val="5B6B7C"/>
      </a:accent6>
      <a:hlink>
        <a:srgbClr val="0E7C96"/>
      </a:hlink>
      <a:folHlink>
        <a:srgbClr val="6B4FD8"/>
      </a:folHlink>
    </a:clrScheme>
    <a:fontScheme name="Anukriti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Anukriti AI - Project Presentation</dc:title>
  <dc:subject>Generative System Engineering and Digital Twin Platform for Medical Devices</dc:subject>
  <dc:creator>Team Anukriti Ai</dc:creator>
  <cp:lastModifiedBy>Team Anukriti Ai</cp:lastModifiedBy>
  <cp:revision>1</cp:revision>
  <dcterms:created xsi:type="dcterms:W3CDTF">2026-10-11T10:47:19Z</dcterms:created>
  <dcterms:modified xsi:type="dcterms:W3CDTF">2026-10-11T10:47:19Z</dcterms:modified>
</cp:coreProperties>
</file>