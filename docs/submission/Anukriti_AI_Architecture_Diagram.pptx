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2cca7f47-1f8f-0bae-46d7-5c88dad9a1ff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layers. Only the Intelligence layer is generative; Computation is deterministic numerics.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02-04 are LLM-driven; 05-06 are deterministic numerics and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prompts and structured JSON leave the device; telemetry and trained models stay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D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8463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8463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Anukriti AI - Generative System Engineering &amp; Digital Twin Platform</a:t>
            </a:r>
            <a:endParaRPr lang="en-US" sz="1300" dirty="0"/>
          </a:p>
        </p:txBody>
      </p:sp>
      <p:sp>
        <p:nvSpPr>
          <p:cNvPr id="4" name="lane-0"/>
          <p:cNvSpPr/>
          <p:nvPr/>
        </p:nvSpPr>
        <p:spPr>
          <a:xfrm>
            <a:off x="566928" y="1481328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8836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Next.js 16 portal - requirements, topology, telemetry, 3D twin</a:t>
            </a:r>
            <a:endParaRPr lang="en-US" sz="1050" dirty="0"/>
          </a:p>
        </p:txBody>
      </p:sp>
      <p:sp>
        <p:nvSpPr>
          <p:cNvPr id="7" name="lane-0-item-0"/>
          <p:cNvSpPr/>
          <p:nvPr/>
        </p:nvSpPr>
        <p:spPr>
          <a:xfrm>
            <a:off x="5047488" y="170992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47488" y="17099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Command Centre</a:t>
            </a:r>
            <a:endParaRPr lang="en-US" sz="850" dirty="0"/>
          </a:p>
        </p:txBody>
      </p:sp>
      <p:sp>
        <p:nvSpPr>
          <p:cNvPr id="9" name="lane-0-item-1"/>
          <p:cNvSpPr/>
          <p:nvPr/>
        </p:nvSpPr>
        <p:spPr>
          <a:xfrm>
            <a:off x="6345936" y="170992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5936" y="17099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Requirements</a:t>
            </a:r>
            <a:endParaRPr lang="en-US" sz="850" dirty="0"/>
          </a:p>
        </p:txBody>
      </p:sp>
      <p:sp>
        <p:nvSpPr>
          <p:cNvPr id="11" name="lane-0-item-2"/>
          <p:cNvSpPr/>
          <p:nvPr/>
        </p:nvSpPr>
        <p:spPr>
          <a:xfrm>
            <a:off x="7644384" y="170992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44384" y="17099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13" name="lane-0-item-3"/>
          <p:cNvSpPr/>
          <p:nvPr/>
        </p:nvSpPr>
        <p:spPr>
          <a:xfrm>
            <a:off x="8942832" y="170992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42832" y="17099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Simulation</a:t>
            </a:r>
            <a:endParaRPr lang="en-US" sz="850" dirty="0"/>
          </a:p>
        </p:txBody>
      </p:sp>
      <p:sp>
        <p:nvSpPr>
          <p:cNvPr id="15" name="lane-0-item-4"/>
          <p:cNvSpPr/>
          <p:nvPr/>
        </p:nvSpPr>
        <p:spPr>
          <a:xfrm>
            <a:off x="10241280" y="170992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41280" y="17099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Digital Twin</a:t>
            </a:r>
            <a:endParaRPr lang="en-US" sz="850" dirty="0"/>
          </a:p>
        </p:txBody>
      </p:sp>
      <p:sp>
        <p:nvSpPr>
          <p:cNvPr id="17" name="flow-0"/>
          <p:cNvSpPr/>
          <p:nvPr/>
        </p:nvSpPr>
        <p:spPr>
          <a:xfrm>
            <a:off x="6004408" y="2450592"/>
            <a:ext cx="182880" cy="155448"/>
          </a:xfrm>
          <a:prstGeom prst="downArrow">
            <a:avLst/>
          </a:prstGeom>
          <a:solidFill>
            <a:srgbClr val="2E40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lane-1"/>
          <p:cNvSpPr/>
          <p:nvPr/>
        </p:nvSpPr>
        <p:spPr>
          <a:xfrm>
            <a:off x="566928" y="2615184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 w="12700">
            <a:solidFill>
              <a:srgbClr val="A98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017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FastAPI core - routing, project state, workflow sequencing</a:t>
            </a:r>
            <a:endParaRPr lang="en-US" sz="1050" dirty="0"/>
          </a:p>
        </p:txBody>
      </p:sp>
      <p:sp>
        <p:nvSpPr>
          <p:cNvPr id="21" name="lane-1-item-0"/>
          <p:cNvSpPr/>
          <p:nvPr/>
        </p:nvSpPr>
        <p:spPr>
          <a:xfrm>
            <a:off x="5047488" y="284378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A98C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47488" y="28437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REST API</a:t>
            </a:r>
            <a:endParaRPr lang="en-US" sz="850" dirty="0"/>
          </a:p>
        </p:txBody>
      </p:sp>
      <p:sp>
        <p:nvSpPr>
          <p:cNvPr id="23" name="lane-1-item-1"/>
          <p:cNvSpPr/>
          <p:nvPr/>
        </p:nvSpPr>
        <p:spPr>
          <a:xfrm>
            <a:off x="6345936" y="284378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A98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45936" y="28437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Project Store</a:t>
            </a:r>
            <a:endParaRPr lang="en-US" sz="850" dirty="0"/>
          </a:p>
        </p:txBody>
      </p:sp>
      <p:sp>
        <p:nvSpPr>
          <p:cNvPr id="25" name="lane-1-item-2"/>
          <p:cNvSpPr/>
          <p:nvPr/>
        </p:nvSpPr>
        <p:spPr>
          <a:xfrm>
            <a:off x="7644384" y="284378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A98C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44384" y="28437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Workflow Engine</a:t>
            </a:r>
            <a:endParaRPr lang="en-US" sz="850" dirty="0"/>
          </a:p>
        </p:txBody>
      </p:sp>
      <p:sp>
        <p:nvSpPr>
          <p:cNvPr id="27" name="lane-1-item-3"/>
          <p:cNvSpPr/>
          <p:nvPr/>
        </p:nvSpPr>
        <p:spPr>
          <a:xfrm>
            <a:off x="8942832" y="284378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A98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42832" y="28437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Traceability</a:t>
            </a:r>
            <a:endParaRPr lang="en-US" sz="850" dirty="0"/>
          </a:p>
        </p:txBody>
      </p:sp>
      <p:sp>
        <p:nvSpPr>
          <p:cNvPr id="29" name="lane-1-item-4"/>
          <p:cNvSpPr/>
          <p:nvPr/>
        </p:nvSpPr>
        <p:spPr>
          <a:xfrm>
            <a:off x="10241280" y="284378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A98C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0" y="28437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OpenAPI</a:t>
            </a:r>
            <a:endParaRPr lang="en-US" sz="850" dirty="0"/>
          </a:p>
        </p:txBody>
      </p:sp>
      <p:sp>
        <p:nvSpPr>
          <p:cNvPr id="31" name="flow-1"/>
          <p:cNvSpPr/>
          <p:nvPr/>
        </p:nvSpPr>
        <p:spPr>
          <a:xfrm>
            <a:off x="6004408" y="3584448"/>
            <a:ext cx="182880" cy="155448"/>
          </a:xfrm>
          <a:prstGeom prst="downArrow">
            <a:avLst/>
          </a:prstGeom>
          <a:solidFill>
            <a:srgbClr val="2E40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lane-2"/>
          <p:cNvSpPr/>
          <p:nvPr/>
        </p:nvSpPr>
        <p:spPr>
          <a:xfrm>
            <a:off x="566928" y="374904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41513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Groq LLM - structured extraction and synthesis</a:t>
            </a:r>
            <a:endParaRPr lang="en-US" sz="1050" dirty="0"/>
          </a:p>
        </p:txBody>
      </p:sp>
      <p:sp>
        <p:nvSpPr>
          <p:cNvPr id="35" name="lane-2-item-0"/>
          <p:cNvSpPr/>
          <p:nvPr/>
        </p:nvSpPr>
        <p:spPr>
          <a:xfrm>
            <a:off x="5047488" y="397764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47488" y="39776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Requirement Engine</a:t>
            </a:r>
            <a:endParaRPr lang="en-US" sz="850" dirty="0"/>
          </a:p>
        </p:txBody>
      </p:sp>
      <p:sp>
        <p:nvSpPr>
          <p:cNvPr id="37" name="lane-2-item-1"/>
          <p:cNvSpPr/>
          <p:nvPr/>
        </p:nvSpPr>
        <p:spPr>
          <a:xfrm>
            <a:off x="6345936" y="397764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45936" y="39776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Graph Builder</a:t>
            </a:r>
            <a:endParaRPr lang="en-US" sz="850" dirty="0"/>
          </a:p>
        </p:txBody>
      </p:sp>
      <p:sp>
        <p:nvSpPr>
          <p:cNvPr id="39" name="lane-2-item-2"/>
          <p:cNvSpPr/>
          <p:nvPr/>
        </p:nvSpPr>
        <p:spPr>
          <a:xfrm>
            <a:off x="7644384" y="397764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44384" y="39776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Sim Planner</a:t>
            </a:r>
            <a:endParaRPr lang="en-US" sz="850" dirty="0"/>
          </a:p>
        </p:txBody>
      </p:sp>
      <p:sp>
        <p:nvSpPr>
          <p:cNvPr id="41" name="lane-2-item-3"/>
          <p:cNvSpPr/>
          <p:nvPr/>
        </p:nvSpPr>
        <p:spPr>
          <a:xfrm>
            <a:off x="8942832" y="397764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42832" y="39776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Compliance</a:t>
            </a:r>
            <a:endParaRPr lang="en-US" sz="850" dirty="0"/>
          </a:p>
        </p:txBody>
      </p:sp>
      <p:sp>
        <p:nvSpPr>
          <p:cNvPr id="43" name="lane-2-item-4"/>
          <p:cNvSpPr/>
          <p:nvPr/>
        </p:nvSpPr>
        <p:spPr>
          <a:xfrm>
            <a:off x="10241280" y="397764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41280" y="39776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3D Prompting</a:t>
            </a:r>
            <a:endParaRPr lang="en-US" sz="850" dirty="0"/>
          </a:p>
        </p:txBody>
      </p:sp>
      <p:sp>
        <p:nvSpPr>
          <p:cNvPr id="45" name="flow-2"/>
          <p:cNvSpPr/>
          <p:nvPr/>
        </p:nvSpPr>
        <p:spPr>
          <a:xfrm>
            <a:off x="6004408" y="4718304"/>
            <a:ext cx="182880" cy="155448"/>
          </a:xfrm>
          <a:prstGeom prst="downArrow">
            <a:avLst/>
          </a:prstGeom>
          <a:solidFill>
            <a:srgbClr val="2E40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lane-3"/>
          <p:cNvSpPr/>
          <p:nvPr/>
        </p:nvSpPr>
        <p:spPr>
          <a:xfrm>
            <a:off x="566928" y="4882896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 w="12700">
            <a:solidFill>
              <a:srgbClr val="5AD07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4672" y="4992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04672" y="52852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NumPy solvers + scikit-learn surrogate training</a:t>
            </a:r>
            <a:endParaRPr lang="en-US" sz="1050" dirty="0"/>
          </a:p>
        </p:txBody>
      </p:sp>
      <p:sp>
        <p:nvSpPr>
          <p:cNvPr id="49" name="lane-3-item-0"/>
          <p:cNvSpPr/>
          <p:nvPr/>
        </p:nvSpPr>
        <p:spPr>
          <a:xfrm>
            <a:off x="5047488" y="511149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5AD07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047488" y="511149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Thermal</a:t>
            </a:r>
            <a:endParaRPr lang="en-US" sz="850" dirty="0"/>
          </a:p>
        </p:txBody>
      </p:sp>
      <p:sp>
        <p:nvSpPr>
          <p:cNvPr id="51" name="lane-3-item-1"/>
          <p:cNvSpPr/>
          <p:nvPr/>
        </p:nvSpPr>
        <p:spPr>
          <a:xfrm>
            <a:off x="6345936" y="511149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5AD07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45936" y="511149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Battery</a:t>
            </a:r>
            <a:endParaRPr lang="en-US" sz="850" dirty="0"/>
          </a:p>
        </p:txBody>
      </p:sp>
      <p:sp>
        <p:nvSpPr>
          <p:cNvPr id="53" name="lane-3-item-2"/>
          <p:cNvSpPr/>
          <p:nvPr/>
        </p:nvSpPr>
        <p:spPr>
          <a:xfrm>
            <a:off x="7644384" y="511149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5AD07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644384" y="511149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Electrical</a:t>
            </a:r>
            <a:endParaRPr lang="en-US" sz="850" dirty="0"/>
          </a:p>
        </p:txBody>
      </p:sp>
      <p:sp>
        <p:nvSpPr>
          <p:cNvPr id="55" name="lane-3-item-3"/>
          <p:cNvSpPr/>
          <p:nvPr/>
        </p:nvSpPr>
        <p:spPr>
          <a:xfrm>
            <a:off x="8942832" y="511149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5AD07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942832" y="511149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Fluid</a:t>
            </a:r>
            <a:endParaRPr lang="en-US" sz="850" dirty="0"/>
          </a:p>
        </p:txBody>
      </p:sp>
      <p:sp>
        <p:nvSpPr>
          <p:cNvPr id="57" name="lane-3-item-4"/>
          <p:cNvSpPr/>
          <p:nvPr/>
        </p:nvSpPr>
        <p:spPr>
          <a:xfrm>
            <a:off x="10241280" y="511149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0B0F14"/>
          </a:solidFill>
          <a:ln w="9525">
            <a:solidFill>
              <a:srgbClr val="5AD07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241280" y="511149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4EE"/>
                </a:solidFill>
              </a:rPr>
              <a:t>Surrogate ML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FA3B5"/>
                </a:solidFill>
              </a:rPr>
              <a:t>Every LLM stage carries a deterministic fallback, so the platform runs without an API key.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8463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From one sentence of natural language to a deployable digital twin</a:t>
            </a:r>
            <a:endParaRPr lang="en-US" sz="1300" dirty="0"/>
          </a:p>
        </p:txBody>
      </p:sp>
      <p:sp>
        <p:nvSpPr>
          <p:cNvPr id="4" name="step-dot-0"/>
          <p:cNvSpPr/>
          <p:nvPr/>
        </p:nvSpPr>
        <p:spPr>
          <a:xfrm>
            <a:off x="603504" y="1609344"/>
            <a:ext cx="457200" cy="457200"/>
          </a:xfrm>
          <a:prstGeom prst="ellipse">
            <a:avLst/>
          </a:prstGeom>
          <a:solidFill>
            <a:srgbClr val="16202B"/>
          </a:solidFill>
          <a:ln w="15875">
            <a:solidFill>
              <a:srgbClr val="8FA3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B5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1609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Description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18470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Natural language input from the engineer</a:t>
            </a:r>
            <a:endParaRPr lang="en-US" sz="1050" dirty="0"/>
          </a:p>
        </p:txBody>
      </p:sp>
      <p:sp>
        <p:nvSpPr>
          <p:cNvPr id="8" name="step-tech-0"/>
          <p:cNvSpPr/>
          <p:nvPr/>
        </p:nvSpPr>
        <p:spPr>
          <a:xfrm>
            <a:off x="9521647" y="1682496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16202B"/>
          </a:solidFill>
          <a:ln w="9525">
            <a:solidFill>
              <a:srgbClr val="2E40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21647" y="168249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5"/>
                </a:solidFill>
              </a:rPr>
              <a:t>User input</a:t>
            </a:r>
            <a:endParaRPr lang="en-US" sz="900" dirty="0"/>
          </a:p>
        </p:txBody>
      </p:sp>
      <p:sp>
        <p:nvSpPr>
          <p:cNvPr id="10" name="step-link-0"/>
          <p:cNvSpPr/>
          <p:nvPr/>
        </p:nvSpPr>
        <p:spPr>
          <a:xfrm>
            <a:off x="832104" y="2066544"/>
            <a:ext cx="0" cy="128016"/>
          </a:xfrm>
          <a:prstGeom prst="line">
            <a:avLst/>
          </a:prstGeom>
          <a:noFill/>
          <a:ln w="15875">
            <a:solidFill>
              <a:srgbClr val="2E4051"/>
            </a:solidFill>
            <a:prstDash val="solid"/>
          </a:ln>
        </p:spPr>
      </p:sp>
      <p:sp>
        <p:nvSpPr>
          <p:cNvPr id="11" name="step-dot-1"/>
          <p:cNvSpPr/>
          <p:nvPr/>
        </p:nvSpPr>
        <p:spPr>
          <a:xfrm>
            <a:off x="603504" y="2267712"/>
            <a:ext cx="457200" cy="457200"/>
          </a:xfrm>
          <a:prstGeom prst="ellipse">
            <a:avLst/>
          </a:prstGeom>
          <a:solidFill>
            <a:srgbClr val="16202B"/>
          </a:solidFill>
          <a:ln w="15875">
            <a:solidFill>
              <a:srgbClr val="61DA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22677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Engine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" y="250545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Typed requirements, IEC safety classes, numeric constraints</a:t>
            </a:r>
            <a:endParaRPr lang="en-US" sz="1050" dirty="0"/>
          </a:p>
        </p:txBody>
      </p:sp>
      <p:sp>
        <p:nvSpPr>
          <p:cNvPr id="15" name="step-tech-1"/>
          <p:cNvSpPr/>
          <p:nvPr/>
        </p:nvSpPr>
        <p:spPr>
          <a:xfrm>
            <a:off x="9521647" y="2340864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16202B"/>
          </a:solidFill>
          <a:ln w="9525">
            <a:solidFill>
              <a:srgbClr val="2E405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21647" y="2340864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DAFB"/>
                </a:solidFill>
              </a:rPr>
              <a:t>Groq LLM</a:t>
            </a:r>
            <a:endParaRPr lang="en-US" sz="900" dirty="0"/>
          </a:p>
        </p:txBody>
      </p:sp>
      <p:sp>
        <p:nvSpPr>
          <p:cNvPr id="17" name="step-link-1"/>
          <p:cNvSpPr/>
          <p:nvPr/>
        </p:nvSpPr>
        <p:spPr>
          <a:xfrm>
            <a:off x="832104" y="2724912"/>
            <a:ext cx="0" cy="128016"/>
          </a:xfrm>
          <a:prstGeom prst="line">
            <a:avLst/>
          </a:prstGeom>
          <a:noFill/>
          <a:ln w="15875">
            <a:solidFill>
              <a:srgbClr val="2E4051"/>
            </a:solidFill>
            <a:prstDash val="solid"/>
          </a:ln>
        </p:spPr>
      </p:sp>
      <p:sp>
        <p:nvSpPr>
          <p:cNvPr id="18" name="step-dot-2"/>
          <p:cNvSpPr/>
          <p:nvPr/>
        </p:nvSpPr>
        <p:spPr>
          <a:xfrm>
            <a:off x="603504" y="2926080"/>
            <a:ext cx="457200" cy="457200"/>
          </a:xfrm>
          <a:prstGeom prst="ellipse">
            <a:avLst/>
          </a:prstGeom>
          <a:solidFill>
            <a:srgbClr val="16202B"/>
          </a:solidFill>
          <a:ln w="15875">
            <a:solidFill>
              <a:srgbClr val="61DA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43584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Builder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43584" y="31638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Subsystems, interfaces and traceability edges as a DAG</a:t>
            </a:r>
            <a:endParaRPr lang="en-US" sz="1050" dirty="0"/>
          </a:p>
        </p:txBody>
      </p:sp>
      <p:sp>
        <p:nvSpPr>
          <p:cNvPr id="22" name="step-tech-2"/>
          <p:cNvSpPr/>
          <p:nvPr/>
        </p:nvSpPr>
        <p:spPr>
          <a:xfrm>
            <a:off x="9521647" y="2999232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16202B"/>
          </a:solidFill>
          <a:ln w="9525">
            <a:solidFill>
              <a:srgbClr val="2E405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21647" y="299923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DAFB"/>
                </a:solidFill>
              </a:rPr>
              <a:t>Groq + NetworkX</a:t>
            </a:r>
            <a:endParaRPr lang="en-US" sz="900" dirty="0"/>
          </a:p>
        </p:txBody>
      </p:sp>
      <p:sp>
        <p:nvSpPr>
          <p:cNvPr id="24" name="step-link-2"/>
          <p:cNvSpPr/>
          <p:nvPr/>
        </p:nvSpPr>
        <p:spPr>
          <a:xfrm>
            <a:off x="832104" y="3383280"/>
            <a:ext cx="0" cy="128016"/>
          </a:xfrm>
          <a:prstGeom prst="line">
            <a:avLst/>
          </a:prstGeom>
          <a:noFill/>
          <a:ln w="15875">
            <a:solidFill>
              <a:srgbClr val="2E4051"/>
            </a:solidFill>
            <a:prstDash val="solid"/>
          </a:ln>
        </p:spPr>
      </p:sp>
      <p:sp>
        <p:nvSpPr>
          <p:cNvPr id="25" name="step-dot-3"/>
          <p:cNvSpPr/>
          <p:nvPr/>
        </p:nvSpPr>
        <p:spPr>
          <a:xfrm>
            <a:off x="603504" y="3584448"/>
            <a:ext cx="457200" cy="457200"/>
          </a:xfrm>
          <a:prstGeom prst="ellipse">
            <a:avLst/>
          </a:prstGeom>
          <a:solidFill>
            <a:srgbClr val="16202B"/>
          </a:solidFill>
          <a:ln w="15875">
            <a:solidFill>
              <a:srgbClr val="A98C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C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43584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Manager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43584" y="38221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Selects physics models and derives their parameters</a:t>
            </a:r>
            <a:endParaRPr lang="en-US" sz="1050" dirty="0"/>
          </a:p>
        </p:txBody>
      </p:sp>
      <p:sp>
        <p:nvSpPr>
          <p:cNvPr id="29" name="step-tech-3"/>
          <p:cNvSpPr/>
          <p:nvPr/>
        </p:nvSpPr>
        <p:spPr>
          <a:xfrm>
            <a:off x="9521647" y="3657600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16202B"/>
          </a:solidFill>
          <a:ln w="9525">
            <a:solidFill>
              <a:srgbClr val="2E405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1647" y="365760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8CFF"/>
                </a:solidFill>
              </a:rPr>
              <a:t>Groq LLM</a:t>
            </a:r>
            <a:endParaRPr lang="en-US" sz="900" dirty="0"/>
          </a:p>
        </p:txBody>
      </p:sp>
      <p:sp>
        <p:nvSpPr>
          <p:cNvPr id="31" name="step-link-3"/>
          <p:cNvSpPr/>
          <p:nvPr/>
        </p:nvSpPr>
        <p:spPr>
          <a:xfrm>
            <a:off x="832104" y="4041648"/>
            <a:ext cx="0" cy="128016"/>
          </a:xfrm>
          <a:prstGeom prst="line">
            <a:avLst/>
          </a:prstGeom>
          <a:noFill/>
          <a:ln w="15875">
            <a:solidFill>
              <a:srgbClr val="2E4051"/>
            </a:solidFill>
            <a:prstDash val="solid"/>
          </a:ln>
        </p:spPr>
      </p:sp>
      <p:sp>
        <p:nvSpPr>
          <p:cNvPr id="32" name="step-dot-4"/>
          <p:cNvSpPr/>
          <p:nvPr/>
        </p:nvSpPr>
        <p:spPr>
          <a:xfrm>
            <a:off x="603504" y="4242816"/>
            <a:ext cx="457200" cy="457200"/>
          </a:xfrm>
          <a:prstGeom prst="ellipse">
            <a:avLst/>
          </a:prstGeom>
          <a:solidFill>
            <a:srgbClr val="16202B"/>
          </a:solidFill>
          <a:ln w="15875">
            <a:solidFill>
              <a:srgbClr val="5AD0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3504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D07A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243584" y="42428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Engine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243584" y="44805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Thermal, battery, electrical, fluid, leakage solvers</a:t>
            </a:r>
            <a:endParaRPr lang="en-US" sz="1050" dirty="0"/>
          </a:p>
        </p:txBody>
      </p:sp>
      <p:sp>
        <p:nvSpPr>
          <p:cNvPr id="36" name="step-tech-4"/>
          <p:cNvSpPr/>
          <p:nvPr/>
        </p:nvSpPr>
        <p:spPr>
          <a:xfrm>
            <a:off x="9521647" y="4315968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16202B"/>
          </a:solidFill>
          <a:ln w="9525">
            <a:solidFill>
              <a:srgbClr val="2E405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21647" y="43159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D07A"/>
                </a:solidFill>
              </a:rPr>
              <a:t>NumPy</a:t>
            </a:r>
            <a:endParaRPr lang="en-US" sz="900" dirty="0"/>
          </a:p>
        </p:txBody>
      </p:sp>
      <p:sp>
        <p:nvSpPr>
          <p:cNvPr id="38" name="step-link-4"/>
          <p:cNvSpPr/>
          <p:nvPr/>
        </p:nvSpPr>
        <p:spPr>
          <a:xfrm>
            <a:off x="832104" y="4700016"/>
            <a:ext cx="0" cy="128016"/>
          </a:xfrm>
          <a:prstGeom prst="line">
            <a:avLst/>
          </a:prstGeom>
          <a:noFill/>
          <a:ln w="15875">
            <a:solidFill>
              <a:srgbClr val="2E4051"/>
            </a:solidFill>
            <a:prstDash val="solid"/>
          </a:ln>
        </p:spPr>
      </p:sp>
      <p:sp>
        <p:nvSpPr>
          <p:cNvPr id="39" name="step-dot-5"/>
          <p:cNvSpPr/>
          <p:nvPr/>
        </p:nvSpPr>
        <p:spPr>
          <a:xfrm>
            <a:off x="603504" y="4901184"/>
            <a:ext cx="457200" cy="457200"/>
          </a:xfrm>
          <a:prstGeom prst="ellipse">
            <a:avLst/>
          </a:prstGeom>
          <a:solidFill>
            <a:srgbClr val="16202B"/>
          </a:solidFill>
          <a:ln w="15875">
            <a:solidFill>
              <a:srgbClr val="5AD0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D07A"/>
                </a:solidFill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243584" y="4901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243584" y="51389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GradientBoosting + MLP surrogate ensemble</a:t>
            </a:r>
            <a:endParaRPr lang="en-US" sz="1050" dirty="0"/>
          </a:p>
        </p:txBody>
      </p:sp>
      <p:sp>
        <p:nvSpPr>
          <p:cNvPr id="43" name="step-tech-5"/>
          <p:cNvSpPr/>
          <p:nvPr/>
        </p:nvSpPr>
        <p:spPr>
          <a:xfrm>
            <a:off x="9521647" y="4974336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16202B"/>
          </a:solidFill>
          <a:ln w="9525">
            <a:solidFill>
              <a:srgbClr val="2E405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21647" y="497433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D07A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45" name="step-link-5"/>
          <p:cNvSpPr/>
          <p:nvPr/>
        </p:nvSpPr>
        <p:spPr>
          <a:xfrm>
            <a:off x="832104" y="5358384"/>
            <a:ext cx="0" cy="128016"/>
          </a:xfrm>
          <a:prstGeom prst="line">
            <a:avLst/>
          </a:prstGeom>
          <a:noFill/>
          <a:ln w="15875">
            <a:solidFill>
              <a:srgbClr val="2E4051"/>
            </a:solidFill>
            <a:prstDash val="solid"/>
          </a:ln>
        </p:spPr>
      </p:sp>
      <p:sp>
        <p:nvSpPr>
          <p:cNvPr id="46" name="step-dot-6"/>
          <p:cNvSpPr/>
          <p:nvPr/>
        </p:nvSpPr>
        <p:spPr>
          <a:xfrm>
            <a:off x="603504" y="5559552"/>
            <a:ext cx="457200" cy="457200"/>
          </a:xfrm>
          <a:prstGeom prst="ellipse">
            <a:avLst/>
          </a:prstGeom>
          <a:solidFill>
            <a:srgbClr val="16202B"/>
          </a:solidFill>
          <a:ln w="15875">
            <a:solidFill>
              <a:srgbClr val="FFB86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03504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6B"/>
                </a:solidFill>
              </a:rPr>
              <a:t>07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243584" y="5559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243584" y="57972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Serialised .pkl artefact served for live inference</a:t>
            </a:r>
            <a:endParaRPr lang="en-US" sz="1050" dirty="0"/>
          </a:p>
        </p:txBody>
      </p:sp>
      <p:sp>
        <p:nvSpPr>
          <p:cNvPr id="50" name="step-tech-6"/>
          <p:cNvSpPr/>
          <p:nvPr/>
        </p:nvSpPr>
        <p:spPr>
          <a:xfrm>
            <a:off x="9521647" y="5632704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16202B"/>
          </a:solidFill>
          <a:ln w="9525">
            <a:solidFill>
              <a:srgbClr val="2E405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21647" y="5632704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86B"/>
                </a:solidFill>
              </a:rPr>
              <a:t>joblib + FastAPI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8463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Topology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The complete platform runs on a single Raspberry Pi 5</a:t>
            </a:r>
            <a:endParaRPr lang="en-US" sz="1300" dirty="0"/>
          </a:p>
        </p:txBody>
      </p:sp>
      <p:sp>
        <p:nvSpPr>
          <p:cNvPr id="4" name="dep-0"/>
          <p:cNvSpPr/>
          <p:nvPr/>
        </p:nvSpPr>
        <p:spPr>
          <a:xfrm>
            <a:off x="566928" y="1591056"/>
            <a:ext cx="3657600" cy="3200400"/>
          </a:xfrm>
          <a:prstGeom prst="roundRect">
            <a:avLst>
              <a:gd name="adj" fmla="val 1429"/>
            </a:avLst>
          </a:prstGeom>
          <a:solidFill>
            <a:srgbClr val="16202B"/>
          </a:solidFill>
          <a:ln w="15875">
            <a:solidFill>
              <a:srgbClr val="61D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Browser on any LAN device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Portal UI - port 3000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Three.js 3D rendering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No install required</a:t>
            </a:r>
            <a:endParaRPr lang="en-US" sz="1100" dirty="0"/>
          </a:p>
        </p:txBody>
      </p:sp>
      <p:sp>
        <p:nvSpPr>
          <p:cNvPr id="7" name="dep-arrow-0"/>
          <p:cNvSpPr/>
          <p:nvPr/>
        </p:nvSpPr>
        <p:spPr>
          <a:xfrm>
            <a:off x="4242816" y="3035808"/>
            <a:ext cx="219456" cy="237744"/>
          </a:xfrm>
          <a:prstGeom prst="rightArrow">
            <a:avLst/>
          </a:prstGeom>
          <a:solidFill>
            <a:srgbClr val="2E40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dep-1"/>
          <p:cNvSpPr/>
          <p:nvPr/>
        </p:nvSpPr>
        <p:spPr>
          <a:xfrm>
            <a:off x="4480560" y="1591056"/>
            <a:ext cx="3657600" cy="3200400"/>
          </a:xfrm>
          <a:prstGeom prst="roundRect">
            <a:avLst>
              <a:gd name="adj" fmla="val 1429"/>
            </a:avLst>
          </a:prstGeom>
          <a:solidFill>
            <a:srgbClr val="16202B"/>
          </a:solidFill>
          <a:ln w="15875">
            <a:solidFill>
              <a:srgbClr val="5AD0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1810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212848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Raspberry Pi 5 - 8 GB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Next.js server - :3000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FastAPI core - :8003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NumPy + scikit-learn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Models persisted as .pkl</a:t>
            </a:r>
            <a:endParaRPr lang="en-US" sz="1100" dirty="0"/>
          </a:p>
        </p:txBody>
      </p:sp>
      <p:sp>
        <p:nvSpPr>
          <p:cNvPr id="11" name="dep-arrow-1"/>
          <p:cNvSpPr/>
          <p:nvPr/>
        </p:nvSpPr>
        <p:spPr>
          <a:xfrm>
            <a:off x="8156448" y="3035808"/>
            <a:ext cx="219456" cy="237744"/>
          </a:xfrm>
          <a:prstGeom prst="rightArrow">
            <a:avLst/>
          </a:prstGeom>
          <a:solidFill>
            <a:srgbClr val="2E40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dep-2"/>
          <p:cNvSpPr/>
          <p:nvPr/>
        </p:nvSpPr>
        <p:spPr>
          <a:xfrm>
            <a:off x="8394192" y="1591056"/>
            <a:ext cx="3657600" cy="3200400"/>
          </a:xfrm>
          <a:prstGeom prst="roundRect">
            <a:avLst>
              <a:gd name="adj" fmla="val 1429"/>
            </a:avLst>
          </a:prstGeom>
          <a:solidFill>
            <a:srgbClr val="16202B"/>
          </a:solidFill>
          <a:ln w="15875">
            <a:solidFill>
              <a:srgbClr val="A9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50224" y="1810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50224" y="2212848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Groq inference API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openai/gpt-oss-20b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Structured JSON only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8E4"/>
                </a:solidFill>
              </a:rPr>
              <a:t>No patient data leaves device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0474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GB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RAM on device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50474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ARM Cortex-A76 cores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50474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64-bit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Raspberry Pi OS (Debian 13)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25712" y="50474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125712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</a:rPr>
              <a:t>throttle flags - no power faults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25449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E80"/>
                </a:solidFill>
              </a:rPr>
              <a:t>Verified on a Raspberry Pi 5 (8 GB) with the official active cooler: the full stack installs and serves from the device.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8463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ukriti AI">
  <a:themeElements>
    <a:clrScheme name="Anukriti AI">
      <a:dk1>
        <a:srgbClr val="0B0F14"/>
      </a:dk1>
      <a:lt1>
        <a:srgbClr val="FFFFFF"/>
      </a:lt1>
      <a:dk2>
        <a:srgbClr val="16202B"/>
      </a:dk2>
      <a:lt2>
        <a:srgbClr val="EEF3F8"/>
      </a:lt2>
      <a:accent1>
        <a:srgbClr val="0E7C96"/>
      </a:accent1>
      <a:accent2>
        <a:srgbClr val="6B4FD8"/>
      </a:accent2>
      <a:accent3>
        <a:srgbClr val="1F8A4C"/>
      </a:accent3>
      <a:accent4>
        <a:srgbClr val="C2761B"/>
      </a:accent4>
      <a:accent5>
        <a:srgbClr val="B23A32"/>
      </a:accent5>
      <a:accent6>
        <a:srgbClr val="5B6B7C"/>
      </a:accent6>
      <a:hlink>
        <a:srgbClr val="0E7C96"/>
      </a:hlink>
      <a:folHlink>
        <a:srgbClr val="6B4FD8"/>
      </a:folHlink>
    </a:clrScheme>
    <a:fontScheme name="Anukriti 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Anukriti AI - System Architecture</dc:title>
  <dc:subject>PptxGenJS Presentation</dc:subject>
  <dc:creator>Team Anukriti Ai</dc:creator>
  <cp:lastModifiedBy>Team Anukriti Ai</cp:lastModifiedBy>
  <cp:revision>1</cp:revision>
  <dcterms:created xsi:type="dcterms:W3CDTF">2026-10-11T10:47:18Z</dcterms:created>
  <dcterms:modified xsi:type="dcterms:W3CDTF">2026-10-11T10:47:18Z</dcterms:modified>
</cp:coreProperties>
</file>